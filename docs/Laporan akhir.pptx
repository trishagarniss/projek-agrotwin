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ooper BT Light" charset="1" panose="0208050304030B020404"/>
      <p:regular r:id="rId24"/>
    </p:embeddedFont>
    <p:embeddedFont>
      <p:font typeface="Cooper BT Bold" charset="1" panose="0208080404030B020404"/>
      <p:regular r:id="rId25"/>
    </p:embeddedFont>
    <p:embeddedFont>
      <p:font typeface="Cooper BT Light Italics" charset="1" panose="0208050304030B0904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6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embeddings/oleObject3.bin" Type="http://schemas.openxmlformats.org/officeDocument/2006/relationships/oleObject"/><Relationship Id="rId6" Target="../media/image8.png" Type="http://schemas.openxmlformats.org/officeDocument/2006/relationships/image"/><Relationship Id="rId7" Target="../embeddings/oleObject4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20.png" Type="http://schemas.openxmlformats.org/officeDocument/2006/relationships/image"/><Relationship Id="rId5" Target="../embeddings/oleObject5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61A1A">
                <a:alpha val="100000"/>
              </a:srgbClr>
            </a:gs>
            <a:gs pos="100000">
              <a:srgbClr val="52090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965" y="3583295"/>
            <a:ext cx="5514720" cy="6703705"/>
            <a:chOff x="0" y="0"/>
            <a:chExt cx="660400" cy="802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802784"/>
            </a:xfrm>
            <a:custGeom>
              <a:avLst/>
              <a:gdLst/>
              <a:ahLst/>
              <a:cxnLst/>
              <a:rect r="r" b="b" t="t" l="l"/>
              <a:pathLst>
                <a:path h="802784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280"/>
                  </a:cubicBezTo>
                  <a:lnTo>
                    <a:pt x="660400" y="802784"/>
                  </a:lnTo>
                  <a:lnTo>
                    <a:pt x="0" y="802784"/>
                  </a:lnTo>
                  <a:lnTo>
                    <a:pt x="0" y="32863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861A1A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8900"/>
              <a:ext cx="660400" cy="713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86640" y="1422931"/>
            <a:ext cx="5514720" cy="8864069"/>
            <a:chOff x="0" y="0"/>
            <a:chExt cx="660400" cy="10614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1061492"/>
            </a:xfrm>
            <a:custGeom>
              <a:avLst/>
              <a:gdLst/>
              <a:ahLst/>
              <a:cxnLst/>
              <a:rect r="r" b="b" t="t" l="l"/>
              <a:pathLst>
                <a:path h="1061492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4026"/>
                  </a:cubicBezTo>
                  <a:lnTo>
                    <a:pt x="660400" y="1061492"/>
                  </a:lnTo>
                  <a:lnTo>
                    <a:pt x="0" y="1061492"/>
                  </a:lnTo>
                  <a:lnTo>
                    <a:pt x="0" y="334566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861A1A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972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92315" y="3583295"/>
            <a:ext cx="5514720" cy="6703705"/>
            <a:chOff x="0" y="0"/>
            <a:chExt cx="660400" cy="802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802784"/>
            </a:xfrm>
            <a:custGeom>
              <a:avLst/>
              <a:gdLst/>
              <a:ahLst/>
              <a:cxnLst/>
              <a:rect r="r" b="b" t="t" l="l"/>
              <a:pathLst>
                <a:path h="802784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280"/>
                  </a:cubicBezTo>
                  <a:lnTo>
                    <a:pt x="660400" y="802784"/>
                  </a:lnTo>
                  <a:lnTo>
                    <a:pt x="0" y="802784"/>
                  </a:lnTo>
                  <a:lnTo>
                    <a:pt x="0" y="328632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861A1A">
                <a:alpha val="6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8900"/>
              <a:ext cx="660400" cy="713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7601268" y="-399732"/>
            <a:ext cx="3085465" cy="18288000"/>
            <a:chOff x="0" y="0"/>
            <a:chExt cx="812633" cy="48165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633" cy="4816592"/>
            </a:xfrm>
            <a:custGeom>
              <a:avLst/>
              <a:gdLst/>
              <a:ahLst/>
              <a:cxnLst/>
              <a:rect r="r" b="b" t="t" l="l"/>
              <a:pathLst>
                <a:path h="4816592" w="812633">
                  <a:moveTo>
                    <a:pt x="0" y="0"/>
                  </a:moveTo>
                  <a:lnTo>
                    <a:pt x="812633" y="0"/>
                  </a:lnTo>
                  <a:lnTo>
                    <a:pt x="81263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E8DED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633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5400000">
            <a:off x="4480560" y="2538095"/>
            <a:ext cx="182880" cy="9144000"/>
          </a:xfrm>
          <a:custGeom>
            <a:avLst/>
            <a:gdLst/>
            <a:ahLst/>
            <a:cxnLst/>
            <a:rect r="r" b="b" t="t" l="l"/>
            <a:pathLst>
              <a:path h="9144000" w="182880">
                <a:moveTo>
                  <a:pt x="0" y="0"/>
                </a:moveTo>
                <a:lnTo>
                  <a:pt x="182880" y="0"/>
                </a:lnTo>
                <a:lnTo>
                  <a:pt x="18288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-5400000">
            <a:off x="13624560" y="2538095"/>
            <a:ext cx="182880" cy="9144000"/>
          </a:xfrm>
          <a:custGeom>
            <a:avLst/>
            <a:gdLst/>
            <a:ahLst/>
            <a:cxnLst/>
            <a:rect r="r" b="b" t="t" l="l"/>
            <a:pathLst>
              <a:path h="9144000" w="182880">
                <a:moveTo>
                  <a:pt x="182880" y="9144000"/>
                </a:moveTo>
                <a:lnTo>
                  <a:pt x="0" y="9144000"/>
                </a:lnTo>
                <a:lnTo>
                  <a:pt x="0" y="0"/>
                </a:lnTo>
                <a:lnTo>
                  <a:pt x="182880" y="0"/>
                </a:lnTo>
                <a:lnTo>
                  <a:pt x="182880" y="91440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15116" y="6574516"/>
            <a:ext cx="1057769" cy="1071158"/>
          </a:xfrm>
          <a:custGeom>
            <a:avLst/>
            <a:gdLst/>
            <a:ahLst/>
            <a:cxnLst/>
            <a:rect r="r" b="b" t="t" l="l"/>
            <a:pathLst>
              <a:path h="1071158" w="1057769">
                <a:moveTo>
                  <a:pt x="0" y="0"/>
                </a:moveTo>
                <a:lnTo>
                  <a:pt x="1057768" y="0"/>
                </a:lnTo>
                <a:lnTo>
                  <a:pt x="1057768" y="1071159"/>
                </a:lnTo>
                <a:lnTo>
                  <a:pt x="0" y="1071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56473" y="2808402"/>
            <a:ext cx="15575054" cy="290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0"/>
              </a:lnSpc>
            </a:pPr>
            <a:r>
              <a:rPr lang="en-US" sz="5900" spc="236">
                <a:solidFill>
                  <a:srgbClr val="E8DED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AgroTwin: Sistem Pakar (AI Reasoning) Berbasis Digital Twin untuk Optimalisasi Tanaman Tomat.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8DED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E8DED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E8DE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6268799" y="7885725"/>
            <a:ext cx="5750402" cy="1103950"/>
            <a:chOff x="0" y="0"/>
            <a:chExt cx="7667203" cy="147193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66675"/>
              <a:ext cx="7667203" cy="848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60"/>
                </a:lnSpc>
              </a:pPr>
              <a:r>
                <a:rPr lang="en-US" sz="3900" b="true">
                  <a:solidFill>
                    <a:srgbClr val="861A1A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Alvian Damar B. H.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36919" y="902762"/>
              <a:ext cx="5593364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86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NIM : L0224014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24001" y="7885725"/>
            <a:ext cx="5750402" cy="1103950"/>
            <a:chOff x="0" y="0"/>
            <a:chExt cx="7667203" cy="147193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66675"/>
              <a:ext cx="7667203" cy="848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60"/>
                </a:lnSpc>
              </a:pPr>
              <a:r>
                <a:rPr lang="en-US" sz="3900" b="true">
                  <a:solidFill>
                    <a:srgbClr val="861A1A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Talitha Sukma M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036919" y="902762"/>
              <a:ext cx="5593364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86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NIM : L0224037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3597" y="7885725"/>
            <a:ext cx="5750402" cy="1103950"/>
            <a:chOff x="0" y="0"/>
            <a:chExt cx="7667203" cy="1471933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66675"/>
              <a:ext cx="7667203" cy="848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60"/>
                </a:lnSpc>
              </a:pPr>
              <a:r>
                <a:rPr lang="en-US" sz="3900" b="true">
                  <a:solidFill>
                    <a:srgbClr val="861A1A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Trisha Garnis W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036919" y="902762"/>
              <a:ext cx="5593364" cy="5691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86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NIM : L0224012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solidFill>
                  <a:srgbClr val="E8DED0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solidFill>
                  <a:srgbClr val="E8DED0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61A1A"/>
            </a:solidFill>
            <a:ln w="19050" cap="sq">
              <a:solidFill>
                <a:srgbClr val="E8DED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0" y="9572310"/>
            <a:ext cx="18288000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4"/>
              </a:lnSpc>
            </a:pPr>
            <a:r>
              <a:rPr lang="en-US" sz="1800" spc="18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Program Studi Sains Data </a:t>
            </a:r>
          </a:p>
          <a:p>
            <a:pPr algn="ctr">
              <a:lnSpc>
                <a:spcPts val="2034"/>
              </a:lnSpc>
            </a:pPr>
            <a:r>
              <a:rPr lang="en-US" sz="1800" spc="18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Fakultas Teknologi Informasi dan Sains 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900321" y="1364134"/>
            <a:ext cx="8659327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Metode Penelitian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57874" y="4248846"/>
            <a:ext cx="7663516" cy="2085427"/>
            <a:chOff x="0" y="0"/>
            <a:chExt cx="2018375" cy="549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8374" cy="549248"/>
            </a:xfrm>
            <a:custGeom>
              <a:avLst/>
              <a:gdLst/>
              <a:ahLst/>
              <a:cxnLst/>
              <a:rect r="r" b="b" t="t" l="l"/>
              <a:pathLst>
                <a:path h="549248" w="2018374">
                  <a:moveTo>
                    <a:pt x="50512" y="0"/>
                  </a:moveTo>
                  <a:lnTo>
                    <a:pt x="1967863" y="0"/>
                  </a:lnTo>
                  <a:cubicBezTo>
                    <a:pt x="1995760" y="0"/>
                    <a:pt x="2018374" y="22615"/>
                    <a:pt x="2018374" y="50512"/>
                  </a:cubicBezTo>
                  <a:lnTo>
                    <a:pt x="2018374" y="498737"/>
                  </a:lnTo>
                  <a:cubicBezTo>
                    <a:pt x="2018374" y="512133"/>
                    <a:pt x="2013053" y="524981"/>
                    <a:pt x="2003580" y="534454"/>
                  </a:cubicBezTo>
                  <a:cubicBezTo>
                    <a:pt x="1994107" y="543927"/>
                    <a:pt x="1981259" y="549248"/>
                    <a:pt x="1967863" y="549248"/>
                  </a:cubicBezTo>
                  <a:lnTo>
                    <a:pt x="50512" y="549248"/>
                  </a:lnTo>
                  <a:cubicBezTo>
                    <a:pt x="37115" y="549248"/>
                    <a:pt x="24267" y="543927"/>
                    <a:pt x="14794" y="534454"/>
                  </a:cubicBezTo>
                  <a:cubicBezTo>
                    <a:pt x="5322" y="524981"/>
                    <a:pt x="0" y="512133"/>
                    <a:pt x="0" y="498737"/>
                  </a:cubicBezTo>
                  <a:lnTo>
                    <a:pt x="0" y="50512"/>
                  </a:lnTo>
                  <a:cubicBezTo>
                    <a:pt x="0" y="37115"/>
                    <a:pt x="5322" y="24267"/>
                    <a:pt x="14794" y="14794"/>
                  </a:cubicBezTo>
                  <a:cubicBezTo>
                    <a:pt x="24267" y="5322"/>
                    <a:pt x="37115" y="0"/>
                    <a:pt x="505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861A1A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18375" cy="58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82558" y="4938090"/>
            <a:ext cx="6083014" cy="706940"/>
            <a:chOff x="0" y="0"/>
            <a:chExt cx="3496954" cy="40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96954" cy="406400"/>
            </a:xfrm>
            <a:custGeom>
              <a:avLst/>
              <a:gdLst/>
              <a:ahLst/>
              <a:cxnLst/>
              <a:rect r="r" b="b" t="t" l="l"/>
              <a:pathLst>
                <a:path h="406400" w="3496954">
                  <a:moveTo>
                    <a:pt x="3293754" y="0"/>
                  </a:moveTo>
                  <a:cubicBezTo>
                    <a:pt x="3405979" y="0"/>
                    <a:pt x="3496954" y="90976"/>
                    <a:pt x="3496954" y="203200"/>
                  </a:cubicBezTo>
                  <a:cubicBezTo>
                    <a:pt x="3496954" y="315424"/>
                    <a:pt x="3405979" y="406400"/>
                    <a:pt x="32937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49695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57874" y="2451016"/>
            <a:ext cx="1009546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Metodologi : </a:t>
            </a:r>
            <a:r>
              <a:rPr lang="en-US" sz="23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Penelitian Rancang Bangun (Design Science Research)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Metode AI :</a:t>
            </a:r>
            <a:r>
              <a:rPr lang="en-US" sz="23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REASONING (Penalaran).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Implementasi : </a:t>
            </a:r>
            <a:r>
              <a:rPr lang="en-US" sz="23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Sistem Pakar (Expert System) 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66240" y="4990252"/>
            <a:ext cx="4515648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8DED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Akuisisi Pengetahuan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579844" y="4248846"/>
            <a:ext cx="7663516" cy="2085427"/>
            <a:chOff x="0" y="0"/>
            <a:chExt cx="2018375" cy="549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8374" cy="549248"/>
            </a:xfrm>
            <a:custGeom>
              <a:avLst/>
              <a:gdLst/>
              <a:ahLst/>
              <a:cxnLst/>
              <a:rect r="r" b="b" t="t" l="l"/>
              <a:pathLst>
                <a:path h="549248" w="2018374">
                  <a:moveTo>
                    <a:pt x="50512" y="0"/>
                  </a:moveTo>
                  <a:lnTo>
                    <a:pt x="1967863" y="0"/>
                  </a:lnTo>
                  <a:cubicBezTo>
                    <a:pt x="1995760" y="0"/>
                    <a:pt x="2018374" y="22615"/>
                    <a:pt x="2018374" y="50512"/>
                  </a:cubicBezTo>
                  <a:lnTo>
                    <a:pt x="2018374" y="498737"/>
                  </a:lnTo>
                  <a:cubicBezTo>
                    <a:pt x="2018374" y="512133"/>
                    <a:pt x="2013053" y="524981"/>
                    <a:pt x="2003580" y="534454"/>
                  </a:cubicBezTo>
                  <a:cubicBezTo>
                    <a:pt x="1994107" y="543927"/>
                    <a:pt x="1981259" y="549248"/>
                    <a:pt x="1967863" y="549248"/>
                  </a:cubicBezTo>
                  <a:lnTo>
                    <a:pt x="50512" y="549248"/>
                  </a:lnTo>
                  <a:cubicBezTo>
                    <a:pt x="37115" y="549248"/>
                    <a:pt x="24267" y="543927"/>
                    <a:pt x="14794" y="534454"/>
                  </a:cubicBezTo>
                  <a:cubicBezTo>
                    <a:pt x="5322" y="524981"/>
                    <a:pt x="0" y="512133"/>
                    <a:pt x="0" y="498737"/>
                  </a:cubicBezTo>
                  <a:lnTo>
                    <a:pt x="0" y="50512"/>
                  </a:lnTo>
                  <a:cubicBezTo>
                    <a:pt x="0" y="37115"/>
                    <a:pt x="5322" y="24267"/>
                    <a:pt x="14794" y="14794"/>
                  </a:cubicBezTo>
                  <a:cubicBezTo>
                    <a:pt x="24267" y="5322"/>
                    <a:pt x="37115" y="0"/>
                    <a:pt x="505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861A1A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18375" cy="58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0783" y="4938090"/>
            <a:ext cx="6083014" cy="706940"/>
            <a:chOff x="0" y="0"/>
            <a:chExt cx="3496954" cy="40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96954" cy="406400"/>
            </a:xfrm>
            <a:custGeom>
              <a:avLst/>
              <a:gdLst/>
              <a:ahLst/>
              <a:cxnLst/>
              <a:rect r="r" b="b" t="t" l="l"/>
              <a:pathLst>
                <a:path h="406400" w="3496954">
                  <a:moveTo>
                    <a:pt x="3293754" y="0"/>
                  </a:moveTo>
                  <a:cubicBezTo>
                    <a:pt x="3405979" y="0"/>
                    <a:pt x="3496954" y="90976"/>
                    <a:pt x="3496954" y="203200"/>
                  </a:cubicBezTo>
                  <a:cubicBezTo>
                    <a:pt x="3496954" y="315424"/>
                    <a:pt x="3405979" y="406400"/>
                    <a:pt x="32937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49695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153778" y="4990252"/>
            <a:ext cx="4515648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8DED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Inference Engine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57874" y="6997751"/>
            <a:ext cx="7663516" cy="2085427"/>
            <a:chOff x="0" y="0"/>
            <a:chExt cx="2018375" cy="5492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8374" cy="549248"/>
            </a:xfrm>
            <a:custGeom>
              <a:avLst/>
              <a:gdLst/>
              <a:ahLst/>
              <a:cxnLst/>
              <a:rect r="r" b="b" t="t" l="l"/>
              <a:pathLst>
                <a:path h="549248" w="2018374">
                  <a:moveTo>
                    <a:pt x="50512" y="0"/>
                  </a:moveTo>
                  <a:lnTo>
                    <a:pt x="1967863" y="0"/>
                  </a:lnTo>
                  <a:cubicBezTo>
                    <a:pt x="1995760" y="0"/>
                    <a:pt x="2018374" y="22615"/>
                    <a:pt x="2018374" y="50512"/>
                  </a:cubicBezTo>
                  <a:lnTo>
                    <a:pt x="2018374" y="498737"/>
                  </a:lnTo>
                  <a:cubicBezTo>
                    <a:pt x="2018374" y="512133"/>
                    <a:pt x="2013053" y="524981"/>
                    <a:pt x="2003580" y="534454"/>
                  </a:cubicBezTo>
                  <a:cubicBezTo>
                    <a:pt x="1994107" y="543927"/>
                    <a:pt x="1981259" y="549248"/>
                    <a:pt x="1967863" y="549248"/>
                  </a:cubicBezTo>
                  <a:lnTo>
                    <a:pt x="50512" y="549248"/>
                  </a:lnTo>
                  <a:cubicBezTo>
                    <a:pt x="37115" y="549248"/>
                    <a:pt x="24267" y="543927"/>
                    <a:pt x="14794" y="534454"/>
                  </a:cubicBezTo>
                  <a:cubicBezTo>
                    <a:pt x="5322" y="524981"/>
                    <a:pt x="0" y="512133"/>
                    <a:pt x="0" y="498737"/>
                  </a:cubicBezTo>
                  <a:lnTo>
                    <a:pt x="0" y="50512"/>
                  </a:lnTo>
                  <a:cubicBezTo>
                    <a:pt x="0" y="37115"/>
                    <a:pt x="5322" y="24267"/>
                    <a:pt x="14794" y="14794"/>
                  </a:cubicBezTo>
                  <a:cubicBezTo>
                    <a:pt x="24267" y="5322"/>
                    <a:pt x="37115" y="0"/>
                    <a:pt x="505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861A1A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18375" cy="58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82558" y="7686994"/>
            <a:ext cx="6083014" cy="706940"/>
            <a:chOff x="0" y="0"/>
            <a:chExt cx="3496954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96954" cy="406400"/>
            </a:xfrm>
            <a:custGeom>
              <a:avLst/>
              <a:gdLst/>
              <a:ahLst/>
              <a:cxnLst/>
              <a:rect r="r" b="b" t="t" l="l"/>
              <a:pathLst>
                <a:path h="406400" w="3496954">
                  <a:moveTo>
                    <a:pt x="3293754" y="0"/>
                  </a:moveTo>
                  <a:cubicBezTo>
                    <a:pt x="3405979" y="0"/>
                    <a:pt x="3496954" y="90976"/>
                    <a:pt x="3496954" y="203200"/>
                  </a:cubicBezTo>
                  <a:cubicBezTo>
                    <a:pt x="3496954" y="315424"/>
                    <a:pt x="3405979" y="406400"/>
                    <a:pt x="32937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49695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731808" y="7739157"/>
            <a:ext cx="4515648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8DED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Desain Antarmuka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579844" y="6997751"/>
            <a:ext cx="7663516" cy="2085427"/>
            <a:chOff x="0" y="0"/>
            <a:chExt cx="2018375" cy="5492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8374" cy="549248"/>
            </a:xfrm>
            <a:custGeom>
              <a:avLst/>
              <a:gdLst/>
              <a:ahLst/>
              <a:cxnLst/>
              <a:rect r="r" b="b" t="t" l="l"/>
              <a:pathLst>
                <a:path h="549248" w="2018374">
                  <a:moveTo>
                    <a:pt x="50512" y="0"/>
                  </a:moveTo>
                  <a:lnTo>
                    <a:pt x="1967863" y="0"/>
                  </a:lnTo>
                  <a:cubicBezTo>
                    <a:pt x="1995760" y="0"/>
                    <a:pt x="2018374" y="22615"/>
                    <a:pt x="2018374" y="50512"/>
                  </a:cubicBezTo>
                  <a:lnTo>
                    <a:pt x="2018374" y="498737"/>
                  </a:lnTo>
                  <a:cubicBezTo>
                    <a:pt x="2018374" y="512133"/>
                    <a:pt x="2013053" y="524981"/>
                    <a:pt x="2003580" y="534454"/>
                  </a:cubicBezTo>
                  <a:cubicBezTo>
                    <a:pt x="1994107" y="543927"/>
                    <a:pt x="1981259" y="549248"/>
                    <a:pt x="1967863" y="549248"/>
                  </a:cubicBezTo>
                  <a:lnTo>
                    <a:pt x="50512" y="549248"/>
                  </a:lnTo>
                  <a:cubicBezTo>
                    <a:pt x="37115" y="549248"/>
                    <a:pt x="24267" y="543927"/>
                    <a:pt x="14794" y="534454"/>
                  </a:cubicBezTo>
                  <a:cubicBezTo>
                    <a:pt x="5322" y="524981"/>
                    <a:pt x="0" y="512133"/>
                    <a:pt x="0" y="498737"/>
                  </a:cubicBezTo>
                  <a:lnTo>
                    <a:pt x="0" y="50512"/>
                  </a:lnTo>
                  <a:cubicBezTo>
                    <a:pt x="0" y="37115"/>
                    <a:pt x="5322" y="24267"/>
                    <a:pt x="14794" y="14794"/>
                  </a:cubicBezTo>
                  <a:cubicBezTo>
                    <a:pt x="24267" y="5322"/>
                    <a:pt x="37115" y="0"/>
                    <a:pt x="505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861A1A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018375" cy="587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370095" y="7686994"/>
            <a:ext cx="6083014" cy="706940"/>
            <a:chOff x="0" y="0"/>
            <a:chExt cx="3496954" cy="406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96954" cy="406400"/>
            </a:xfrm>
            <a:custGeom>
              <a:avLst/>
              <a:gdLst/>
              <a:ahLst/>
              <a:cxnLst/>
              <a:rect r="r" b="b" t="t" l="l"/>
              <a:pathLst>
                <a:path h="406400" w="3496954">
                  <a:moveTo>
                    <a:pt x="3293754" y="0"/>
                  </a:moveTo>
                  <a:cubicBezTo>
                    <a:pt x="3405979" y="0"/>
                    <a:pt x="3496954" y="90976"/>
                    <a:pt x="3496954" y="203200"/>
                  </a:cubicBezTo>
                  <a:cubicBezTo>
                    <a:pt x="3496954" y="315424"/>
                    <a:pt x="3405979" y="406400"/>
                    <a:pt x="329375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49695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064466" y="7739157"/>
            <a:ext cx="4515648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8DED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Evaluasi Sistem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7" id="17"/>
          <p:cNvGraphicFramePr/>
          <p:nvPr/>
        </p:nvGraphicFramePr>
        <p:xfrm>
          <a:off x="1375942" y="2624827"/>
          <a:ext cx="9029700" cy="3143250"/>
        </p:xfrm>
        <a:graphic>
          <a:graphicData uri="http://schemas.openxmlformats.org/presentationml/2006/ole">
            <p:oleObj imgW="10833100" imgH="4953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8" id="18"/>
          <p:cNvGraphicFramePr/>
          <p:nvPr/>
        </p:nvGraphicFramePr>
        <p:xfrm>
          <a:off x="1375942" y="6367668"/>
          <a:ext cx="9801225" cy="3143250"/>
        </p:xfrm>
        <a:graphic>
          <a:graphicData uri="http://schemas.openxmlformats.org/presentationml/2006/ole">
            <p:oleObj imgW="11760200" imgH="51054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12901050" y="4872562"/>
            <a:ext cx="9654891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DATASET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5942" y="5287534"/>
            <a:ext cx="4515648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Tabel Gejala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5942" y="1626715"/>
            <a:ext cx="4515648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Tabel OPT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5942" y="2174182"/>
            <a:ext cx="11933181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Dataset ini berisi daftar kelas diagnosis yang menjadi target keluaran sistem.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5942" y="5832999"/>
            <a:ext cx="11933181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Dataset ini berisi variabel-variabel yang diamati dan dimasukkan oleh pengguna.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17" id="17"/>
          <p:cNvGraphicFramePr/>
          <p:nvPr/>
        </p:nvGraphicFramePr>
        <p:xfrm>
          <a:off x="1375942" y="2585026"/>
          <a:ext cx="9129712" cy="3771900"/>
        </p:xfrm>
        <a:graphic>
          <a:graphicData uri="http://schemas.openxmlformats.org/presentationml/2006/ole">
            <p:oleObj imgW="10947400" imgH="5600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8" id="18"/>
          <p:cNvGraphicFramePr/>
          <p:nvPr/>
        </p:nvGraphicFramePr>
        <p:xfrm>
          <a:off x="1375942" y="6760785"/>
          <a:ext cx="10358438" cy="3143250"/>
        </p:xfrm>
        <a:graphic>
          <a:graphicData uri="http://schemas.openxmlformats.org/presentationml/2006/ole">
            <p:oleObj imgW="12420600" imgH="52197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12901050" y="4872562"/>
            <a:ext cx="9654891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DATASET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5942" y="5775901"/>
            <a:ext cx="6821296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Tabel Rekomendasi Produk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5942" y="1626715"/>
            <a:ext cx="4515648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Tabel Aturan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5942" y="2174182"/>
            <a:ext cx="11933181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Dataset ini berisi logika 'otak' sistem yang menghubungkan gejala dengan diagnosis.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5942" y="6321366"/>
            <a:ext cx="11933181" cy="37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Dataset pendukung yang berisi database pestisida yang terhubung dengan diagnosis.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16554" y="1716455"/>
            <a:ext cx="9654891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Akuisisi Pengetahuan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0900" y="3214566"/>
            <a:ext cx="14185656" cy="377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Mengumpulkan pengetahuan pakar dan merumuskannya menjadi aturan IF–THEN.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Sumber pengetahuan: SOP Kementerian Pertanian, jurnal ilmiah, dan buku teks.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Informasi dianalisis dan diterjemahkan menjadi aturan yang terstruktur.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Hasil akhir: Knowledge Base sebagai dasar sistem pakar dalam penalaran dan pemberian rekomendasi.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16554" y="1716455"/>
            <a:ext cx="9654891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Inference Engine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0900" y="3758585"/>
            <a:ext cx="14185656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Menggunakan Forward Chaining: penalaran dimulai dari gejala → menuju diagnosis.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Sistem mencocokkan gejala dengan aturan secara bertahap hingga menemukan kesimpulan yang sesuai.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Menangani ketidakpastian dengan Certainty Factor (CF): memberi bobot keyakinan pada gejala &amp; aturan.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Hasil diagnosis mencakup jenis penyakit + tingkat keyakinan secara kuantitatif.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16554" y="1716455"/>
            <a:ext cx="9654891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Desain Antarmuka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7703" y="4135229"/>
            <a:ext cx="15307500" cy="24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UI sederhana, intuitif, dan mudah digunakan.</a:t>
            </a:r>
          </a:p>
          <a:p>
            <a:pPr algn="just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V</a:t>
            </a:r>
            <a:r>
              <a:rPr lang="en-US" sz="34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isualisasi data jelas untuk memantau kondisi pertanian.</a:t>
            </a:r>
          </a:p>
          <a:p>
            <a:pPr algn="just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Memudahkan identifikasi pola, tren, dan anomali.</a:t>
            </a:r>
          </a:p>
          <a:p>
            <a:pPr algn="just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</a:t>
            </a:r>
            <a:r>
              <a:rPr lang="en-US" sz="3499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ekomendasi bersifat explainable (ada alasan di balik setiap saran).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097283" y="1592887"/>
            <a:ext cx="14093433" cy="7927556"/>
          </a:xfrm>
          <a:custGeom>
            <a:avLst/>
            <a:gdLst/>
            <a:ahLst/>
            <a:cxnLst/>
            <a:rect r="r" b="b" t="t" l="l"/>
            <a:pathLst>
              <a:path h="7927556" w="14093433">
                <a:moveTo>
                  <a:pt x="0" y="0"/>
                </a:moveTo>
                <a:lnTo>
                  <a:pt x="14093434" y="0"/>
                </a:lnTo>
                <a:lnTo>
                  <a:pt x="14093434" y="7927556"/>
                </a:lnTo>
                <a:lnTo>
                  <a:pt x="0" y="792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946219" y="1571218"/>
            <a:ext cx="14395562" cy="8097504"/>
          </a:xfrm>
          <a:custGeom>
            <a:avLst/>
            <a:gdLst/>
            <a:ahLst/>
            <a:cxnLst/>
            <a:rect r="r" b="b" t="t" l="l"/>
            <a:pathLst>
              <a:path h="8097504" w="14395562">
                <a:moveTo>
                  <a:pt x="0" y="0"/>
                </a:moveTo>
                <a:lnTo>
                  <a:pt x="14395562" y="0"/>
                </a:lnTo>
                <a:lnTo>
                  <a:pt x="14395562" y="8097504"/>
                </a:lnTo>
                <a:lnTo>
                  <a:pt x="0" y="8097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16554" y="1716455"/>
            <a:ext cx="9654891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Evaluasi Sistem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0900" y="3214566"/>
            <a:ext cx="14185656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Pengujian prototype dilakukan untuk memastikan sistem bekerja sesuai tujuan.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Menggunakan metode Studi Kasus dengan data skenario yang mensimulasikan kondisi nyata.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Evaluasi mencakup:</a:t>
            </a:r>
          </a:p>
          <a:p>
            <a:pPr algn="just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kemampuan memproses input,</a:t>
            </a:r>
          </a:p>
          <a:p>
            <a:pPr algn="just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ketepatan hasil analisis,</a:t>
            </a:r>
          </a:p>
          <a:p>
            <a:pPr algn="just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relevansi rekomendasi.</a:t>
            </a: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Pengujian membantu menemukan kekurangan sistem untuk perbaikan sebelum implementasi lebih luas.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27703" y="3119316"/>
            <a:ext cx="11189520" cy="6011625"/>
          </a:xfrm>
          <a:custGeom>
            <a:avLst/>
            <a:gdLst/>
            <a:ahLst/>
            <a:cxnLst/>
            <a:rect r="r" b="b" t="t" l="l"/>
            <a:pathLst>
              <a:path h="6011625" w="11189520">
                <a:moveTo>
                  <a:pt x="0" y="0"/>
                </a:moveTo>
                <a:lnTo>
                  <a:pt x="11189521" y="0"/>
                </a:lnTo>
                <a:lnTo>
                  <a:pt x="11189521" y="6011624"/>
                </a:lnTo>
                <a:lnTo>
                  <a:pt x="0" y="6011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78962" y="1714696"/>
            <a:ext cx="8330076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Code AI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94491" y="3062166"/>
            <a:ext cx="53780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Fungsi untuk input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94491" y="3914970"/>
            <a:ext cx="53780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Fungsi ask_float untuk menginput data berbasis desimal (suhu, PH)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94491" y="5195110"/>
            <a:ext cx="537808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Fungsi ask_percent untuk menginput data berbasis persentase (kelembapan, tingkat kepercayaan)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2398087"/>
            <a:ext cx="8785716" cy="5875448"/>
          </a:xfrm>
          <a:custGeom>
            <a:avLst/>
            <a:gdLst/>
            <a:ahLst/>
            <a:cxnLst/>
            <a:rect r="r" b="b" t="t" l="l"/>
            <a:pathLst>
              <a:path h="5875448" w="8785716">
                <a:moveTo>
                  <a:pt x="0" y="0"/>
                </a:moveTo>
                <a:lnTo>
                  <a:pt x="8785716" y="0"/>
                </a:lnTo>
                <a:lnTo>
                  <a:pt x="8785716" y="5875448"/>
                </a:lnTo>
                <a:lnTo>
                  <a:pt x="0" y="587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785716" y="2409815"/>
            <a:ext cx="9502284" cy="5870521"/>
          </a:xfrm>
          <a:custGeom>
            <a:avLst/>
            <a:gdLst/>
            <a:ahLst/>
            <a:cxnLst/>
            <a:rect r="r" b="b" t="t" l="l"/>
            <a:pathLst>
              <a:path h="5870521" w="9502284">
                <a:moveTo>
                  <a:pt x="0" y="0"/>
                </a:moveTo>
                <a:lnTo>
                  <a:pt x="9502284" y="0"/>
                </a:lnTo>
                <a:lnTo>
                  <a:pt x="9502284" y="5870521"/>
                </a:lnTo>
                <a:lnTo>
                  <a:pt x="0" y="58705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60997" y="1289590"/>
            <a:ext cx="8330076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Code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5874" y="8631150"/>
            <a:ext cx="1694954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Fungsi load_gejala dan load_opt untuk mengambil data Gejala dan Hama/Penyakit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18940" y="2325537"/>
            <a:ext cx="8751209" cy="7194906"/>
          </a:xfrm>
          <a:custGeom>
            <a:avLst/>
            <a:gdLst/>
            <a:ahLst/>
            <a:cxnLst/>
            <a:rect r="r" b="b" t="t" l="l"/>
            <a:pathLst>
              <a:path h="7194906" w="8751209">
                <a:moveTo>
                  <a:pt x="0" y="0"/>
                </a:moveTo>
                <a:lnTo>
                  <a:pt x="8751208" y="0"/>
                </a:lnTo>
                <a:lnTo>
                  <a:pt x="8751208" y="7194906"/>
                </a:lnTo>
                <a:lnTo>
                  <a:pt x="0" y="7194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34953" y="2295234"/>
            <a:ext cx="8658040" cy="6033612"/>
          </a:xfrm>
          <a:custGeom>
            <a:avLst/>
            <a:gdLst/>
            <a:ahLst/>
            <a:cxnLst/>
            <a:rect r="r" b="b" t="t" l="l"/>
            <a:pathLst>
              <a:path h="6033612" w="8658040">
                <a:moveTo>
                  <a:pt x="0" y="0"/>
                </a:moveTo>
                <a:lnTo>
                  <a:pt x="8658040" y="0"/>
                </a:lnTo>
                <a:lnTo>
                  <a:pt x="8658040" y="6033612"/>
                </a:lnTo>
                <a:lnTo>
                  <a:pt x="0" y="60336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78962" y="1130935"/>
            <a:ext cx="8330076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Code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34953" y="8407755"/>
            <a:ext cx="867877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Fungsi load_rules dan load_rekomendasi untuk mengambil data rules dan rekomendasi produk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46434" y="2387173"/>
            <a:ext cx="8897566" cy="3155438"/>
          </a:xfrm>
          <a:custGeom>
            <a:avLst/>
            <a:gdLst/>
            <a:ahLst/>
            <a:cxnLst/>
            <a:rect r="r" b="b" t="t" l="l"/>
            <a:pathLst>
              <a:path h="3155438" w="8897566">
                <a:moveTo>
                  <a:pt x="0" y="0"/>
                </a:moveTo>
                <a:lnTo>
                  <a:pt x="8897566" y="0"/>
                </a:lnTo>
                <a:lnTo>
                  <a:pt x="8897566" y="3155439"/>
                </a:lnTo>
                <a:lnTo>
                  <a:pt x="0" y="3155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20657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82466" y="2353366"/>
            <a:ext cx="8730705" cy="6209395"/>
          </a:xfrm>
          <a:custGeom>
            <a:avLst/>
            <a:gdLst/>
            <a:ahLst/>
            <a:cxnLst/>
            <a:rect r="r" b="b" t="t" l="l"/>
            <a:pathLst>
              <a:path h="6209395" w="8730705">
                <a:moveTo>
                  <a:pt x="0" y="0"/>
                </a:moveTo>
                <a:lnTo>
                  <a:pt x="8730705" y="0"/>
                </a:lnTo>
                <a:lnTo>
                  <a:pt x="8730705" y="6209395"/>
                </a:lnTo>
                <a:lnTo>
                  <a:pt x="0" y="6209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78962" y="1130935"/>
            <a:ext cx="8330076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Code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6434" y="5714062"/>
            <a:ext cx="8678774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Kode yang digunakan untuk meminta inputan PH tanah, Kelembapan Udara, Suhu, Kelembapan Tanah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Dibuat satu persatu karena AI perlu mengkalsifikasikan indikator lingkungan dibawah batas minimum atau diatas batas maksimum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016230" y="2362393"/>
            <a:ext cx="10990175" cy="6581599"/>
          </a:xfrm>
          <a:custGeom>
            <a:avLst/>
            <a:gdLst/>
            <a:ahLst/>
            <a:cxnLst/>
            <a:rect r="r" b="b" t="t" l="l"/>
            <a:pathLst>
              <a:path h="6581599" w="10990175">
                <a:moveTo>
                  <a:pt x="0" y="0"/>
                </a:moveTo>
                <a:lnTo>
                  <a:pt x="10990176" y="0"/>
                </a:lnTo>
                <a:lnTo>
                  <a:pt x="10990176" y="6581599"/>
                </a:lnTo>
                <a:lnTo>
                  <a:pt x="0" y="6581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78962" y="1130935"/>
            <a:ext cx="8330076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Code AI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8945" y="2202180"/>
            <a:ext cx="7103071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Kode yang digunakan untuk meminta inputan gejala gejala yang ada (checkbox pada web) beserta tingkat keyakinan pengguna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Menggunakan For Loop karena AI akan menghitung tingkat keyakinan satu persatu dari data yang ada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DE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86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13422" y="1028700"/>
            <a:ext cx="6446794" cy="0"/>
          </a:xfrm>
          <a:prstGeom prst="line">
            <a:avLst/>
          </a:prstGeom>
          <a:ln cap="flat" w="19050">
            <a:solidFill>
              <a:srgbClr val="861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8DED0"/>
            </a:solidFill>
            <a:ln w="19050" cap="sq">
              <a:solidFill>
                <a:srgbClr val="861A1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2259330"/>
            <a:ext cx="16578790" cy="5140946"/>
          </a:xfrm>
          <a:custGeom>
            <a:avLst/>
            <a:gdLst/>
            <a:ahLst/>
            <a:cxnLst/>
            <a:rect r="r" b="b" t="t" l="l"/>
            <a:pathLst>
              <a:path h="5140946" w="16578790">
                <a:moveTo>
                  <a:pt x="0" y="0"/>
                </a:moveTo>
                <a:lnTo>
                  <a:pt x="16578790" y="0"/>
                </a:lnTo>
                <a:lnTo>
                  <a:pt x="16578790" y="5140946"/>
                </a:lnTo>
                <a:lnTo>
                  <a:pt x="0" y="5140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56222" y="9453768"/>
            <a:ext cx="1157963" cy="61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gradFill>
                  <a:gsLst>
                    <a:gs pos="0">
                      <a:srgbClr val="861A1A">
                        <a:alpha val="100000"/>
                      </a:srgbClr>
                    </a:gs>
                    <a:gs pos="100000">
                      <a:srgbClr val="52090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78962" y="1130935"/>
            <a:ext cx="8330076" cy="112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861A1A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Code AI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9155" y="7774642"/>
            <a:ext cx="1657833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861A1A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Kode yang digunakan untuk mencetak output berupa Hama/Penyakit, Tingkat Keyakinan, dan Solusi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61A1A">
                <a:alpha val="100000"/>
              </a:srgbClr>
            </a:gs>
            <a:gs pos="100000">
              <a:srgbClr val="52090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01060"/>
            <a:ext cx="18288000" cy="285940"/>
            <a:chOff x="0" y="0"/>
            <a:chExt cx="4816593" cy="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5309"/>
            </a:xfrm>
            <a:custGeom>
              <a:avLst/>
              <a:gdLst/>
              <a:ahLst/>
              <a:cxnLst/>
              <a:rect r="r" b="b" t="t" l="l"/>
              <a:pathLst>
                <a:path h="753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5309"/>
                  </a:lnTo>
                  <a:lnTo>
                    <a:pt x="0" y="75309"/>
                  </a:lnTo>
                  <a:close/>
                </a:path>
              </a:pathLst>
            </a:custGeom>
            <a:solidFill>
              <a:srgbClr val="E8DE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13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62917" y="9201140"/>
            <a:ext cx="2144573" cy="2171720"/>
          </a:xfrm>
          <a:custGeom>
            <a:avLst/>
            <a:gdLst/>
            <a:ahLst/>
            <a:cxnLst/>
            <a:rect r="r" b="b" t="t" l="l"/>
            <a:pathLst>
              <a:path h="2171720" w="2144573">
                <a:moveTo>
                  <a:pt x="0" y="0"/>
                </a:moveTo>
                <a:lnTo>
                  <a:pt x="2144573" y="0"/>
                </a:lnTo>
                <a:lnTo>
                  <a:pt x="2144573" y="2171720"/>
                </a:lnTo>
                <a:lnTo>
                  <a:pt x="0" y="217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5354090" y="1028700"/>
            <a:ext cx="6306126" cy="0"/>
          </a:xfrm>
          <a:prstGeom prst="line">
            <a:avLst/>
          </a:prstGeom>
          <a:ln cap="flat" w="19050">
            <a:solidFill>
              <a:srgbClr val="E8DE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80965" y="634460"/>
            <a:ext cx="4532457" cy="788479"/>
            <a:chOff x="0" y="0"/>
            <a:chExt cx="2336131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6131" cy="406400"/>
            </a:xfrm>
            <a:custGeom>
              <a:avLst/>
              <a:gdLst/>
              <a:ahLst/>
              <a:cxnLst/>
              <a:rect r="r" b="b" t="t" l="l"/>
              <a:pathLst>
                <a:path h="406400" w="2336131">
                  <a:moveTo>
                    <a:pt x="2132931" y="0"/>
                  </a:moveTo>
                  <a:cubicBezTo>
                    <a:pt x="2245156" y="0"/>
                    <a:pt x="2336131" y="90976"/>
                    <a:pt x="2336131" y="203200"/>
                  </a:cubicBezTo>
                  <a:cubicBezTo>
                    <a:pt x="2336131" y="315424"/>
                    <a:pt x="2245156" y="406400"/>
                    <a:pt x="21329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36131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60216" y="634460"/>
            <a:ext cx="5947274" cy="788479"/>
            <a:chOff x="0" y="0"/>
            <a:chExt cx="306536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65360" cy="406400"/>
            </a:xfrm>
            <a:custGeom>
              <a:avLst/>
              <a:gdLst/>
              <a:ahLst/>
              <a:cxnLst/>
              <a:rect r="r" b="b" t="t" l="l"/>
              <a:pathLst>
                <a:path h="406400" w="3065360">
                  <a:moveTo>
                    <a:pt x="2862160" y="0"/>
                  </a:moveTo>
                  <a:cubicBezTo>
                    <a:pt x="2974384" y="0"/>
                    <a:pt x="3065360" y="90976"/>
                    <a:pt x="3065360" y="203200"/>
                  </a:cubicBezTo>
                  <a:cubicBezTo>
                    <a:pt x="3065360" y="315424"/>
                    <a:pt x="2974384" y="406400"/>
                    <a:pt x="286216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6536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0965" y="477741"/>
            <a:ext cx="1093477" cy="1093477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61A1A"/>
            </a:solidFill>
            <a:ln w="19050" cap="sq">
              <a:solidFill>
                <a:srgbClr val="E8DED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064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65874" y="568781"/>
            <a:ext cx="923659" cy="911398"/>
          </a:xfrm>
          <a:custGeom>
            <a:avLst/>
            <a:gdLst/>
            <a:ahLst/>
            <a:cxnLst/>
            <a:rect r="r" b="b" t="t" l="l"/>
            <a:pathLst>
              <a:path h="911398" w="923659">
                <a:moveTo>
                  <a:pt x="0" y="0"/>
                </a:moveTo>
                <a:lnTo>
                  <a:pt x="923659" y="0"/>
                </a:lnTo>
                <a:lnTo>
                  <a:pt x="923659" y="911398"/>
                </a:lnTo>
                <a:lnTo>
                  <a:pt x="0" y="911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7398527" y="2043380"/>
            <a:ext cx="9857847" cy="0"/>
          </a:xfrm>
          <a:prstGeom prst="line">
            <a:avLst/>
          </a:prstGeom>
          <a:ln cap="flat" w="38100">
            <a:solidFill>
              <a:srgbClr val="E8DED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8" id="18"/>
          <p:cNvSpPr/>
          <p:nvPr/>
        </p:nvSpPr>
        <p:spPr>
          <a:xfrm>
            <a:off x="1028700" y="9539493"/>
            <a:ext cx="9860773" cy="0"/>
          </a:xfrm>
          <a:prstGeom prst="line">
            <a:avLst/>
          </a:prstGeom>
          <a:ln cap="flat" w="38100">
            <a:solidFill>
              <a:srgbClr val="E8DED0"/>
            </a:solidFill>
            <a:prstDash val="solid"/>
            <a:headEnd type="oval" len="lg" w="lg"/>
            <a:tailEnd type="oval" len="lg" w="lg"/>
          </a:ln>
        </p:spPr>
      </p:sp>
      <p:graphicFrame>
        <p:nvGraphicFramePr>
          <p:cNvPr name="Object 19" id="19"/>
          <p:cNvGraphicFramePr/>
          <p:nvPr/>
        </p:nvGraphicFramePr>
        <p:xfrm>
          <a:off x="440335" y="3328824"/>
          <a:ext cx="10201275" cy="3771900"/>
        </p:xfrm>
        <a:graphic>
          <a:graphicData uri="http://schemas.openxmlformats.org/presentationml/2006/ole">
            <p:oleObj imgW="12230100" imgH="5803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5956222" y="9453768"/>
            <a:ext cx="115796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i="true">
                <a:solidFill>
                  <a:srgbClr val="861A1A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0900" y="742950"/>
            <a:ext cx="298009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solidFill>
                  <a:srgbClr val="E8DED0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KELOMPOK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11333" y="742950"/>
            <a:ext cx="524504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i="true" spc="371">
                <a:solidFill>
                  <a:srgbClr val="E8DED0"/>
                </a:solidFill>
                <a:latin typeface="Cooper BT Light Italics"/>
                <a:ea typeface="Cooper BT Light Italics"/>
                <a:cs typeface="Cooper BT Light Italics"/>
                <a:sym typeface="Cooper BT Light Italics"/>
              </a:rPr>
              <a:t>KECERDASAN BUATAN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462355"/>
            <a:ext cx="636982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E8DED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Keunggulan AI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61A1A">
                <a:alpha val="100000"/>
              </a:srgbClr>
            </a:gs>
            <a:gs pos="100000">
              <a:srgbClr val="52090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6499"/>
            <a:ext cx="18288000" cy="8974002"/>
            <a:chOff x="0" y="0"/>
            <a:chExt cx="24384000" cy="11965337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12082272" y="-336391"/>
              <a:ext cx="219456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1111" t="0" r="-6111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2082272" y="-12082272"/>
              <a:ext cx="219456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1111" t="0" r="-6111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001203" y="3689350"/>
            <a:ext cx="14285593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 spc="480">
                <a:solidFill>
                  <a:srgbClr val="E8DED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DAG6gcdhFCk</dc:identifier>
  <dcterms:modified xsi:type="dcterms:W3CDTF">2011-08-01T06:04:30Z</dcterms:modified>
  <cp:revision>1</cp:revision>
  <dc:title>Laporan akhir</dc:title>
</cp:coreProperties>
</file>